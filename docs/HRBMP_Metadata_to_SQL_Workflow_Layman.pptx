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d2c4480abb46c2" /><Relationship Type="http://schemas.openxmlformats.org/officeDocument/2006/relationships/extended-properties" Target="/docProps/app.xml" Id="Rf9cc083ecd134687" /><Relationship Type="http://schemas.openxmlformats.org/officeDocument/2006/relationships/officeDocument" Target="/ppt/presentation.xml" Id="Rf923d1d42bda4b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fff93f68b94cc3"/>
  </p:sldMasterIdLst>
  <p:notesMasterIdLst>
    <p:notesMasterId xmlns:r="http://schemas.openxmlformats.org/officeDocument/2006/relationships" r:id="R119d6eabac3d46fb"/>
  </p:notesMasterIdLst>
  <p:sldIdLst>
    <p:sldId xmlns:r="http://schemas.openxmlformats.org/officeDocument/2006/relationships" id="256" r:id="R28bfa5f9072e4e4b"/>
    <p:sldId xmlns:r="http://schemas.openxmlformats.org/officeDocument/2006/relationships" id="257" r:id="R70a6d0dada8448cc"/>
    <p:sldId xmlns:r="http://schemas.openxmlformats.org/officeDocument/2006/relationships" id="258" r:id="R30a6dc1a4000442b"/>
    <p:sldId xmlns:r="http://schemas.openxmlformats.org/officeDocument/2006/relationships" id="259" r:id="R25ce2f135175448e"/>
    <p:sldId xmlns:r="http://schemas.openxmlformats.org/officeDocument/2006/relationships" id="260" r:id="Rc057331cb6f94dde"/>
    <p:sldId xmlns:r="http://schemas.openxmlformats.org/officeDocument/2006/relationships" id="261" r:id="Ref502c712abc4eb6"/>
    <p:sldId xmlns:r="http://schemas.openxmlformats.org/officeDocument/2006/relationships" id="262" r:id="Rded0cc4145d64ef1"/>
    <p:sldId xmlns:r="http://schemas.openxmlformats.org/officeDocument/2006/relationships" id="263" r:id="Rca3f9870d94646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27130b0da34d69" /><Relationship Type="http://schemas.openxmlformats.org/officeDocument/2006/relationships/slideMaster" Target="/ppt/slideMasters/slideMaster1.xml" Id="R78fff93f68b94cc3" /><Relationship Type="http://schemas.openxmlformats.org/officeDocument/2006/relationships/notesMaster" Target="/ppt/notesMasters/notesMaster1.xml" Id="R119d6eabac3d46fb" /><Relationship Type="http://schemas.openxmlformats.org/officeDocument/2006/relationships/presProps" Target="/ppt/presProps.xml" Id="R1837a9598add489e" /><Relationship Type="http://schemas.openxmlformats.org/officeDocument/2006/relationships/tableStyles" Target="/ppt/tableStyles.xml" Id="R912589bbbc3b4eeb" /><Relationship Type="http://schemas.openxmlformats.org/officeDocument/2006/relationships/slide" Target="/ppt/slides/slide1.xml" Id="R28bfa5f9072e4e4b" /><Relationship Type="http://schemas.openxmlformats.org/officeDocument/2006/relationships/slide" Target="/ppt/slides/slide2.xml" Id="R70a6d0dada8448cc" /><Relationship Type="http://schemas.openxmlformats.org/officeDocument/2006/relationships/slide" Target="/ppt/slides/slide3.xml" Id="R30a6dc1a4000442b" /><Relationship Type="http://schemas.openxmlformats.org/officeDocument/2006/relationships/slide" Target="/ppt/slides/slide4.xml" Id="R25ce2f135175448e" /><Relationship Type="http://schemas.openxmlformats.org/officeDocument/2006/relationships/slide" Target="/ppt/slides/slide5.xml" Id="Rc057331cb6f94dde" /><Relationship Type="http://schemas.openxmlformats.org/officeDocument/2006/relationships/slide" Target="/ppt/slides/slide6.xml" Id="Ref502c712abc4eb6" /><Relationship Type="http://schemas.openxmlformats.org/officeDocument/2006/relationships/slide" Target="/ppt/slides/slide7.xml" Id="Rded0cc4145d64ef1" /><Relationship Type="http://schemas.openxmlformats.org/officeDocument/2006/relationships/slide" Target="/ppt/slides/slide8.xml" Id="Rca3f9870d94646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b56767586d46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6dbe27ac2a4676" /><Relationship Type="http://schemas.openxmlformats.org/officeDocument/2006/relationships/notesMaster" Target="/ppt/notesMasters/notesMaster1.xml" Id="R33aa1aa674ad4a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405ad162b945c7" /><Relationship Type="http://schemas.openxmlformats.org/officeDocument/2006/relationships/notesMaster" Target="/ppt/notesMasters/notesMaster1.xml" Id="R3fa17a2d49584b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15038af7cc4d4a" /><Relationship Type="http://schemas.openxmlformats.org/officeDocument/2006/relationships/notesMaster" Target="/ppt/notesMasters/notesMaster1.xml" Id="Rf08ecd01513f4b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bb693bb6764e0f" /><Relationship Type="http://schemas.openxmlformats.org/officeDocument/2006/relationships/notesMaster" Target="/ppt/notesMasters/notesMaster1.xml" Id="Rdca36037102945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4edf2554a34ad3" /><Relationship Type="http://schemas.openxmlformats.org/officeDocument/2006/relationships/notesMaster" Target="/ppt/notesMasters/notesMaster1.xml" Id="Rf1b65667797d4d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20b171356043cb" /><Relationship Type="http://schemas.openxmlformats.org/officeDocument/2006/relationships/notesMaster" Target="/ppt/notesMasters/notesMaster1.xml" Id="Rbe3830075f514e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a5bdccbfc449d7" /><Relationship Type="http://schemas.openxmlformats.org/officeDocument/2006/relationships/notesMaster" Target="/ppt/notesMasters/notesMaster1.xml" Id="R9c465d9c564048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fdcf89bb4445a0" /><Relationship Type="http://schemas.openxmlformats.org/officeDocument/2006/relationships/notesMaster" Target="/ppt/notesMasters/notesMaster1.xml" Id="Rc5b104c9d3f04a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docs/HRBMP_Metadata_Conversion_FJS_LRS_Image_Stream.docx</a:t>
            </a:r>
          </a:p>
          <a:p xmlns:a="http://schemas.openxmlformats.org/drawingml/2006/main">
            <a:r>
              <a:t>- database/schema.sql</a:t>
            </a:r>
          </a:p>
          <a:p xmlns:a="http://schemas.openxmlformats.org/drawingml/2006/main">
            <a:r>
              <a:t>- supabase/migrations/20260721130000_create_fjs_archive.sql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database/schema.sql</a:t>
            </a:r>
          </a:p>
          <a:p xmlns:a="http://schemas.openxmlformats.org/drawingml/2006/main">
            <a:r>
              <a:t>- database/seed_data.sql</a:t>
            </a:r>
          </a:p>
          <a:p xmlns:a="http://schemas.openxmlformats.org/drawingml/2006/main">
            <a:r>
              <a:t>- api/server.py</a:t>
            </a:r>
          </a:p>
          <a:p xmlns:a="http://schemas.openxmlformats.org/drawingml/2006/main">
            <a:r>
              <a:t>- docs/fjs_supabase_archive.md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scripts/run_fjs_supabase_archive_workflow.R</a:t>
            </a:r>
          </a:p>
          <a:p xmlns:a="http://schemas.openxmlformats.org/drawingml/2006/main">
            <a:r>
              <a:t>- scripts/build_fjs_archive_manifest.py</a:t>
            </a:r>
          </a:p>
          <a:p xmlns:a="http://schemas.openxmlformats.org/drawingml/2006/main">
            <a:r>
              <a:t>- docs/fjs_supabase_archive.md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scripts/build_fjs_archive_manifest.py</a:t>
            </a:r>
          </a:p>
          <a:p xmlns:a="http://schemas.openxmlformats.org/drawingml/2006/main">
            <a:r>
              <a:t>- supabase/migrations/20260721130000_create_fjs_archive.sql</a:t>
            </a:r>
          </a:p>
          <a:p xmlns:a="http://schemas.openxmlformats.org/drawingml/2006/main">
            <a:r>
              <a:t>- docs/fjs_photo_filename_conventions.md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database/schema.sql</a:t>
            </a:r>
          </a:p>
          <a:p xmlns:a="http://schemas.openxmlformats.org/drawingml/2006/main">
            <a:r>
              <a:t>- database/seed_data.sql</a:t>
            </a:r>
          </a:p>
          <a:p xmlns:a="http://schemas.openxmlformats.org/drawingml/2006/main">
            <a:r>
              <a:t>- docs/database_design.md</a:t>
            </a:r>
          </a:p>
          <a:p xmlns:a="http://schemas.openxmlformats.org/drawingml/2006/main">
            <a:r>
              <a:t>- docs/HRBMP_Metadata_Conversion_FJS_LRS_Image_Stream.docx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docs/fjs_supabase_archive.md</a:t>
            </a:r>
          </a:p>
          <a:p xmlns:a="http://schemas.openxmlformats.org/drawingml/2006/main">
            <a:r>
              <a:t>- gui/assets/photo_gallery/README.md</a:t>
            </a:r>
          </a:p>
          <a:p xmlns:a="http://schemas.openxmlformats.org/drawingml/2006/main">
            <a:r>
              <a:t>- supabase/migrations/20260721130000_create_fjs_archive.sql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scripts/03_export_gui_data.R</a:t>
            </a:r>
          </a:p>
          <a:p xmlns:a="http://schemas.openxmlformats.org/drawingml/2006/main">
            <a:r>
              <a:t>- gui/data/example_summary.json</a:t>
            </a:r>
          </a:p>
          <a:p xmlns:a="http://schemas.openxmlformats.org/drawingml/2006/main">
            <a:r>
              <a:t>- gui/assets/photo_gallery/README.md</a:t>
            </a:r>
          </a:p>
          <a:p xmlns:a="http://schemas.openxmlformats.org/drawingml/2006/main">
            <a:r>
              <a:t>- supabase/functions/deliver-approved-request/index.ts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docs/HRBMP_Metadata_Conversion_FJS_LRS_Image_Stream.docx</a:t>
            </a:r>
          </a:p>
          <a:p xmlns:a="http://schemas.openxmlformats.org/drawingml/2006/main">
            <a:r>
              <a:t>- docs/fjs_supabase_archive.md</a:t>
            </a:r>
          </a:p>
          <a:p xmlns:a="http://schemas.openxmlformats.org/drawingml/2006/main">
            <a:r>
              <a:t>- database/schema.sql</a:t>
            </a:r>
          </a:p>
          <a:p xmlns:a="http://schemas.openxmlformats.org/drawingml/2006/main">
            <a:r>
              <a:t>- gui/assets/photo_gallery/README.md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e2ccd58fc49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e5f0a042b44fd6" /><Relationship Type="http://schemas.openxmlformats.org/officeDocument/2006/relationships/slideLayout" Target="/ppt/slideLayouts/slideLayout1.xml" Id="R2e18bf082c1440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18bf082c1440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572c580264f9f" /><Relationship Type="http://schemas.openxmlformats.org/officeDocument/2006/relationships/notesSlide" Target="/ppt/notesSlides/notesSlide1.xml" Id="R4236d6c715ad49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da13134fb4dae" /><Relationship Type="http://schemas.openxmlformats.org/officeDocument/2006/relationships/notesSlide" Target="/ppt/notesSlides/notesSlide2.xml" Id="Rc2b257ccf69245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61d9848e8454d" /><Relationship Type="http://schemas.openxmlformats.org/officeDocument/2006/relationships/notesSlide" Target="/ppt/notesSlides/notesSlide3.xml" Id="R40af0632c0964f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74aa928ab4e09" /><Relationship Type="http://schemas.openxmlformats.org/officeDocument/2006/relationships/notesSlide" Target="/ppt/notesSlides/notesSlide4.xml" Id="Re2566682f40648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5b37eb7134f34" /><Relationship Type="http://schemas.openxmlformats.org/officeDocument/2006/relationships/notesSlide" Target="/ppt/notesSlides/notesSlide5.xml" Id="Rbd0e761b288148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614421c394f7a" /><Relationship Type="http://schemas.openxmlformats.org/officeDocument/2006/relationships/notesSlide" Target="/ppt/notesSlides/notesSlide6.xml" Id="Rcd209d5228054d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59abdcb82481e" /><Relationship Type="http://schemas.openxmlformats.org/officeDocument/2006/relationships/notesSlide" Target="/ppt/notesSlides/notesSlide7.xml" Id="R34f43bc59a6f47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dde8d8441408e" /><Relationship Type="http://schemas.openxmlformats.org/officeDocument/2006/relationships/notesSlide" Target="/ppt/notesSlides/notesSlide8.xml" Id="Rd50738bd074e44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18AC1-06C0-489B-97BD-556B0464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Plain-English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E5C5E-577E-4A50-B86E-94DD127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14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How metadata becomes SQL metadata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F5982-EBAE-4C17-9883-25996DF6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733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Focused on FJS, LRS, and the new image data stream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7E58D7C1-5F46-490C-A6B7-D4A1C692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F29AB-EC92-4420-98BE-838C4B27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06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E3A8A"/>
                </a:solidFill>
                <a:latin typeface="Helvetica Neue"/>
                <a:ea typeface="Helvetica Neue"/>
                <a:cs typeface="Helvetica Neue"/>
              </a:rPr>
              <a:t>The magic is sorting, labeling, and linking.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E05AC43-C980-4D3C-9EE6-F8F2D4AD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627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HRBMP metadata workflow | 1</a:t>
            </a:r>
          </a:p>
        </p:txBody>
      </p:sp>
    </p:spTree>
    <p:extLst>
      <p:ext uri="{BB962C8B-B14F-4D97-AF65-F5344CB8AC3E}">
        <p14:creationId xmlns:p14="http://schemas.microsoft.com/office/powerpoint/2010/main" val="265338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2F1BDA-A97A-435D-BA7D-1DE826CF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whole workflow is a four-step sorting job</a:t>
            </a:r>
          </a:p>
        </p:txBody>
      </p:sp>
      <p:sp>
        <p:nvSpPr>
          <p:cNvPr id="2" name="label-panel">
            <a:extLst xmlns:a="http://schemas.openxmlformats.org/drawingml/2006/main">
              <a:ext uri="{FF2B5EF4-FFF2-40B4-BE49-F238E27FC236}">
                <a16:creationId xmlns:a16="http://schemas.microsoft.com/office/drawing/2014/main" id="{B854A2A7-A3E7-4545-A6F5-FB534527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2669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39033-4F0A-4674-8AB1-934DC41F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1. Source files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33F74-F879-4448-A04F-60A94A36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62275"/>
            <a:ext cx="1847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Spreadsheets, data dictionaries, sample folders, photos, and PDFs.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314A98E5-EDD5-4F85-8E36-2968D328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47625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panel">
            <a:extLst xmlns:a="http://schemas.openxmlformats.org/drawingml/2006/main">
              <a:ext uri="{FF2B5EF4-FFF2-40B4-BE49-F238E27FC236}">
                <a16:creationId xmlns:a16="http://schemas.microsoft.com/office/drawing/2014/main" id="{38CFACB6-EC68-4409-A275-776F5F3F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22669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00260-3297-41CF-B584-C5809C81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28875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2. Translator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64E66-A505-49DC-9490-65742E5E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62275"/>
            <a:ext cx="1847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Scripts clean names, make IDs, and split fields into the right buckets.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275672CA-321B-4742-8AA8-A429432E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00375"/>
            <a:ext cx="47625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panel">
            <a:extLst xmlns:a="http://schemas.openxmlformats.org/drawingml/2006/main">
              <a:ext uri="{FF2B5EF4-FFF2-40B4-BE49-F238E27FC236}">
                <a16:creationId xmlns:a16="http://schemas.microsoft.com/office/drawing/2014/main" id="{3F5B613D-70B0-4C09-9635-CF3B71C0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38375"/>
            <a:ext cx="22669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DD8C2-27B4-45A4-8266-71D941E9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3. SQL 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1A025-BBD5-4470-BECA-5BCDF345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62275"/>
            <a:ext cx="1847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Tables hold the index: who, what, where, when, units, paths, access.</a:t>
            </a:r>
          </a:p>
        </p:txBody>
      </p:sp>
      <p:sp>
        <p:nvSpPr>
          <p:cNvPr id="13" name="flow-arrow">
            <a:extLst xmlns:a="http://schemas.openxmlformats.org/drawingml/2006/main">
              <a:ext uri="{FF2B5EF4-FFF2-40B4-BE49-F238E27FC236}">
                <a16:creationId xmlns:a16="http://schemas.microsoft.com/office/drawing/2014/main" id="{4FDB3157-2ED5-4CCC-9AB1-122708AA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0375"/>
            <a:ext cx="47625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bel-panel">
            <a:extLst xmlns:a="http://schemas.openxmlformats.org/drawingml/2006/main">
              <a:ext uri="{FF2B5EF4-FFF2-40B4-BE49-F238E27FC236}">
                <a16:creationId xmlns:a16="http://schemas.microsoft.com/office/drawing/2014/main" id="{531FD1A2-3D0F-42DB-BAB9-96241B59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38375"/>
            <a:ext cx="22669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1A311-6641-49E3-8442-2C780305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28875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61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4. Display or deliver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F58F3-9870-483B-99AB-8AAB2FDC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62275"/>
            <a:ext cx="1847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GUI, API, and request tools read the SQL index.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8A72F-2535-4541-9709-7B3CA0DD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SQL stores the label on each item, not the whole story in one messy spreadsheet.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AFB6F-3AFF-4FC0-87F1-4021D48A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Sources in speaker notes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657EB84E-C8E2-4607-A9AB-492EE03E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627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HRBMP metadata workflow | 2</a:t>
            </a:r>
          </a:p>
        </p:txBody>
      </p:sp>
    </p:spTree>
    <p:extLst>
      <p:ext uri="{BB962C8B-B14F-4D97-AF65-F5344CB8AC3E}">
        <p14:creationId xmlns:p14="http://schemas.microsoft.com/office/powerpoint/2010/main" val="2923863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2800E1-C628-48AF-9430-542BA087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FJS has the closest thing to a one-button translator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038BC-35C0-4934-94CF-08570A36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For Fall Juvenile Survey data, the repo already has a workflow that packages metadata plus image/PDF records for Supabase.</a:t>
            </a:r>
          </a:p>
        </p:txBody>
      </p:sp>
      <p:sp>
        <p:nvSpPr>
          <p:cNvPr id="3" name="label-panel">
            <a:extLst xmlns:a="http://schemas.openxmlformats.org/drawingml/2006/main">
              <a:ext uri="{FF2B5EF4-FFF2-40B4-BE49-F238E27FC236}">
                <a16:creationId xmlns:a16="http://schemas.microsoft.com/office/drawing/2014/main" id="{18465477-7C1A-4CC6-AFC7-3BBCAD01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24E9A-CF27-4A1C-98F6-E04E45B2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7405E-219A-44CF-88D0-E103A143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438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Processed count CSV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Data dictionary workbook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Sample folders with JPG/PDF files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E6DAB13E-8479-48A6-8915-1442899B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90875"/>
            <a:ext cx="66675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panel">
            <a:extLst xmlns:a="http://schemas.openxmlformats.org/drawingml/2006/main">
              <a:ext uri="{FF2B5EF4-FFF2-40B4-BE49-F238E27FC236}">
                <a16:creationId xmlns:a16="http://schemas.microsoft.com/office/drawing/2014/main" id="{CA07C59D-F2BB-4A05-8295-E21AC16D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C4D15-7B4D-4144-B0F7-E3DB6D8B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3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E3A8A"/>
                </a:solidFill>
                <a:latin typeface="Helvetica Neue"/>
                <a:ea typeface="Helvetica Neue"/>
                <a:cs typeface="Helvetica Neue"/>
              </a:rPr>
              <a:t>Translator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72818-CE75-43FD-B118-13C20FFB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05150"/>
            <a:ext cx="25336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run_fjs_supabase_archive_workflow.R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build_fjs_archive_manifest.py</a:t>
            </a:r>
          </a:p>
        </p:txBody>
      </p:sp>
      <p:sp>
        <p:nvSpPr>
          <p:cNvPr id="10" name="flow-arrow">
            <a:extLst xmlns:a="http://schemas.openxmlformats.org/drawingml/2006/main">
              <a:ext uri="{FF2B5EF4-FFF2-40B4-BE49-F238E27FC236}">
                <a16:creationId xmlns:a16="http://schemas.microsoft.com/office/drawing/2014/main" id="{978128DE-9A97-4FC4-9AE6-FC703332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90875"/>
            <a:ext cx="66675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bel-panel">
            <a:extLst xmlns:a="http://schemas.openxmlformats.org/drawingml/2006/main">
              <a:ext uri="{FF2B5EF4-FFF2-40B4-BE49-F238E27FC236}">
                <a16:creationId xmlns:a16="http://schemas.microsoft.com/office/drawing/2014/main" id="{13D2D90E-DE89-42F1-B7EB-3BA47B2C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812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887CE-C836-4263-8BD6-E2B9CFF7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5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66534"/>
                </a:solidFill>
                <a:latin typeface="Helvetica Neue"/>
                <a:ea typeface="Helvetica Neue"/>
                <a:cs typeface="Helvetica Neue"/>
              </a:rPr>
              <a:t>Outputs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612D7-15CB-4FF0-B9C1-20363D68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05150"/>
            <a:ext cx="2438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Import CSVs for SQL tables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Storage-ready image/PDF folder</a:t>
            </a:r>
          </a:p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QC 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F0695-A534-433C-876E-18E48439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197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Layman translation: the script makes a clean filing cabinet from a stack of field records.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5051A-40C9-48A8-9C34-680AA1E2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Sources in speaker notes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B2520EC2-B15A-4611-A08C-7B388C2E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627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HRBMP metadata workflow | 3</a:t>
            </a:r>
          </a:p>
        </p:txBody>
      </p:sp>
    </p:spTree>
    <p:extLst>
      <p:ext uri="{BB962C8B-B14F-4D97-AF65-F5344CB8AC3E}">
        <p14:creationId xmlns:p14="http://schemas.microsoft.com/office/powerpoint/2010/main" val="20447707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A7D9C1-14E2-4E78-9B35-E98831A1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FJS metadata is split into four easy buckets</a:t>
            </a:r>
          </a:p>
        </p:txBody>
      </p:sp>
      <p:sp>
        <p:nvSpPr>
          <p:cNvPr id="2" name="label-panel">
            <a:extLst xmlns:a="http://schemas.openxmlformats.org/drawingml/2006/main">
              <a:ext uri="{FF2B5EF4-FFF2-40B4-BE49-F238E27FC236}">
                <a16:creationId xmlns:a16="http://schemas.microsoft.com/office/drawing/2014/main" id="{E083F4D6-F2A0-4F29-A171-94B33463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762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AC77E-E613-4080-867F-A76D3A9A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34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Sample facts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7F355-B87A-41B6-BC6C-707E4BD3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Date, site, river mile, gear, water quality.</a:t>
            </a:r>
          </a:p>
        </p:txBody>
      </p:sp>
      <p:sp>
        <p:nvSpPr>
          <p:cNvPr id="5" name="small-tag">
            <a:extLst xmlns:a="http://schemas.openxmlformats.org/drawingml/2006/main">
              <a:ext uri="{FF2B5EF4-FFF2-40B4-BE49-F238E27FC236}">
                <a16:creationId xmlns:a16="http://schemas.microsoft.com/office/drawing/2014/main" id="{38F440A2-8386-41F8-B970-8026D4C0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9B058-BCB2-4E90-A414-81737274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E3A8A"/>
                </a:solidFill>
                <a:latin typeface="Helvetica Neue"/>
                <a:ea typeface="Helvetica Neue"/>
                <a:cs typeface="Helvetica Neue"/>
              </a:rPr>
              <a:t>fjs_samples</a:t>
            </a:r>
          </a:p>
        </p:txBody>
      </p:sp>
      <p:sp>
        <p:nvSpPr>
          <p:cNvPr id="7" name="label-panel">
            <a:extLst xmlns:a="http://schemas.openxmlformats.org/drawingml/2006/main">
              <a:ext uri="{FF2B5EF4-FFF2-40B4-BE49-F238E27FC236}">
                <a16:creationId xmlns:a16="http://schemas.microsoft.com/office/drawing/2014/main" id="{72C0F140-9EBC-42BA-829B-F8BC65B6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762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62D2B-3CD8-4AC9-A97F-0CB12294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434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Species 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1E97E-7C1E-48F3-BCC6-FA8EE641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Taxon code, common name, scientific name later.</a:t>
            </a:r>
          </a:p>
        </p:txBody>
      </p:sp>
      <p:sp>
        <p:nvSpPr>
          <p:cNvPr id="10" name="small-tag">
            <a:extLst xmlns:a="http://schemas.openxmlformats.org/drawingml/2006/main">
              <a:ext uri="{FF2B5EF4-FFF2-40B4-BE49-F238E27FC236}">
                <a16:creationId xmlns:a16="http://schemas.microsoft.com/office/drawing/2014/main" id="{06B0CC55-3572-462F-95AB-3DBCAFE8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337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B9FBC-200F-41AE-BA3B-E236A117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E3A8A"/>
                </a:solidFill>
                <a:latin typeface="Helvetica Neue"/>
                <a:ea typeface="Helvetica Neue"/>
                <a:cs typeface="Helvetica Neue"/>
              </a:rPr>
              <a:t>fjs_taxa</a:t>
            </a:r>
          </a:p>
        </p:txBody>
      </p:sp>
      <p:sp>
        <p:nvSpPr>
          <p:cNvPr id="12" name="label-panel">
            <a:extLst xmlns:a="http://schemas.openxmlformats.org/drawingml/2006/main">
              <a:ext uri="{FF2B5EF4-FFF2-40B4-BE49-F238E27FC236}">
                <a16:creationId xmlns:a16="http://schemas.microsoft.com/office/drawing/2014/main" id="{6544FD82-794F-4B25-A67B-8F9966C3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4762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7DD1D-3569-4D2E-AC10-4609C600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434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Count 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5935A-A341-425A-97EA-A2C5FC6A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Eggs, larvae, YOY, yearling, older, corrected totals.</a:t>
            </a:r>
          </a:p>
        </p:txBody>
      </p:sp>
      <p:sp>
        <p:nvSpPr>
          <p:cNvPr id="15" name="small-tag">
            <a:extLst xmlns:a="http://schemas.openxmlformats.org/drawingml/2006/main">
              <a:ext uri="{FF2B5EF4-FFF2-40B4-BE49-F238E27FC236}">
                <a16:creationId xmlns:a16="http://schemas.microsoft.com/office/drawing/2014/main" id="{524672DC-CA68-46C5-9647-67135A3C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70B4A-45D5-4AC9-BCC6-260DFFE0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E3A8A"/>
                </a:solidFill>
                <a:latin typeface="Helvetica Neue"/>
                <a:ea typeface="Helvetica Neue"/>
                <a:cs typeface="Helvetica Neue"/>
              </a:rPr>
              <a:t>fjs_sample_taxa</a:t>
            </a:r>
          </a:p>
        </p:txBody>
      </p:sp>
      <p:sp>
        <p:nvSpPr>
          <p:cNvPr id="17" name="label-panel">
            <a:extLst xmlns:a="http://schemas.openxmlformats.org/drawingml/2006/main">
              <a:ext uri="{FF2B5EF4-FFF2-40B4-BE49-F238E27FC236}">
                <a16:creationId xmlns:a16="http://schemas.microsoft.com/office/drawing/2014/main" id="{B7A0950E-8F68-4AD2-B433-931210EA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8100"/>
            <a:ext cx="4762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B4F85-BDA6-462E-8BEF-1617F549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434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File 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32A83A-5E81-4123-9BB8-C532BF21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4343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Photo/PDF name, kind, path, checksum, access level.</a:t>
            </a:r>
          </a:p>
        </p:txBody>
      </p:sp>
      <p:sp>
        <p:nvSpPr>
          <p:cNvPr id="20" name="small-tag">
            <a:extLst xmlns:a="http://schemas.openxmlformats.org/drawingml/2006/main">
              <a:ext uri="{FF2B5EF4-FFF2-40B4-BE49-F238E27FC236}">
                <a16:creationId xmlns:a16="http://schemas.microsoft.com/office/drawing/2014/main" id="{EF85129A-53CD-458B-8A2C-75FDCA1D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720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31F0E-7AE1-441C-BBEB-EAFB2363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48250"/>
            <a:ext cx="1724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E3A8A"/>
                </a:solidFill>
                <a:latin typeface="Helvetica Neue"/>
                <a:ea typeface="Helvetica Neue"/>
                <a:cs typeface="Helvetica Neue"/>
              </a:rPr>
              <a:t>fjs_assets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BF7071-BC84-4475-93E1-1D6FE710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817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key idea: one source row can become several SQL rows, each with a clear job.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5A3D2D-FD3A-466A-BDDB-5C1FF3A3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Sources in speaker notes</a:t>
            </a:r>
          </a:p>
        </p:txBody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9DE00AE4-071B-4F14-9E29-0B5DF20D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627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HRBMP metadata workflow | 4</a:t>
            </a:r>
          </a:p>
        </p:txBody>
      </p:sp>
    </p:spTree>
    <p:extLst>
      <p:ext uri="{BB962C8B-B14F-4D97-AF65-F5344CB8AC3E}">
        <p14:creationId xmlns:p14="http://schemas.microsoft.com/office/powerpoint/2010/main" val="1679052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C16614-86B8-4931-8E9F-44139CFC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LRS uses the same sorting logic, just less automated today</a:t>
            </a:r>
          </a:p>
        </p:txBody>
      </p:sp>
      <p:sp>
        <p:nvSpPr>
          <p:cNvPr id="2" name="panel">
            <a:extLst xmlns:a="http://schemas.openxmlformats.org/drawingml/2006/main">
              <a:ext uri="{FF2B5EF4-FFF2-40B4-BE49-F238E27FC236}">
                <a16:creationId xmlns:a16="http://schemas.microsoft.com/office/drawing/2014/main" id="{9A9A456D-64C5-47E9-BD18-E65D3451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5F2FB-0DC8-4D9B-A291-DB9B0B69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994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57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835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78350F"/>
                </a:solidFill>
                <a:latin typeface="Helvetica Neue"/>
                <a:ea typeface="Helvetica Neue"/>
                <a:cs typeface="Helvetica Neue"/>
              </a:rPr>
              <a:t>No dedicated LRS importer was found in the repo. So the practical workflow is: prepare the source, then load it into the shared HRBMP SQLite tables.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E8CA1A4D-139C-4C04-B180-1190DB1D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171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3F7BA-CE29-48B6-971F-039A4FB1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5A859-0292-49C3-8411-2E1FD737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099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685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Program and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89DCE-321E-403D-8F23-38B020E4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1790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5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Register Long River Survey and the source file.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C6EAA6A6-B237-4B4A-8633-A747DF75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86050"/>
            <a:ext cx="2171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F1C90-8406-4907-AC28-A6D7C520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575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A53F4-7128-4F1D-B53D-8F4A3A05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099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Station and 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76E46-E622-4DEB-85CF-68E187CD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81450"/>
            <a:ext cx="1790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Where and when was the sample collected?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060ADFCF-8092-4300-A4F1-EBC18802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2171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A986C-5380-4FF2-8E04-DFFF7C60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951E4-314E-4607-A081-6F728A4F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Taxon and 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421F1-78E2-45F4-B160-AC149E3B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1790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What species/life stage was found, and how many?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D25BA6BE-8111-44B2-BE21-74E504A0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86050"/>
            <a:ext cx="2171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A356E-6774-4598-AF66-61D19E98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85F2D-EE92-4588-A670-1B084500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099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5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Variables and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20536-25AF-4A1D-8275-4A32E866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81450"/>
            <a:ext cx="1790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20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What does each field mean, and who can see it?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E7BC8-AA67-43DA-A2ED-10E0AB9A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LRS can be imported reliably once its columns are mapped to these shared shelves.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77449-1143-4597-870F-BC37ECB2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Sources in speaker notes</a:t>
            </a:r>
          </a:p>
        </p:txBody>
      </p:sp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42D7B025-F5BA-41EA-BCE6-02A59E73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627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HRBMP metadata workflow | 5</a:t>
            </a:r>
          </a:p>
        </p:txBody>
      </p:sp>
    </p:spTree>
    <p:extLst>
      <p:ext uri="{BB962C8B-B14F-4D97-AF65-F5344CB8AC3E}">
        <p14:creationId xmlns:p14="http://schemas.microsoft.com/office/powerpoint/2010/main" val="9632213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EFDF7E-C6DD-436F-945F-977503F0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image file does not become SQL; its label does</a:t>
            </a:r>
          </a:p>
        </p:txBody>
      </p:sp>
      <p:sp>
        <p:nvSpPr>
          <p:cNvPr id="2" name="label-panel">
            <a:extLst xmlns:a="http://schemas.openxmlformats.org/drawingml/2006/main">
              <a:ext uri="{FF2B5EF4-FFF2-40B4-BE49-F238E27FC236}">
                <a16:creationId xmlns:a16="http://schemas.microsoft.com/office/drawing/2014/main" id="{4E5C91E8-A351-4E65-A14C-3B8BEE86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57BFC-5DA1-4DED-AD8A-8A41F39C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86000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F12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9F1239"/>
                </a:solidFill>
                <a:latin typeface="Helvetica Neue"/>
                <a:ea typeface="Helvetica Neue"/>
                <a:cs typeface="Helvetica Neue"/>
              </a:rPr>
              <a:t>Actual 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03EBB-A917-438C-8D98-E111111F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30099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JPG, HEIC, TIFF, or PDF</a:t>
            </a:r>
          </a:p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Lives in Storage or a reviewed public GUI folder.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90FDAB33-81DD-4144-B38F-2C040A96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28950"/>
            <a:ext cx="857250" cy="628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panel">
            <a:extLst xmlns:a="http://schemas.openxmlformats.org/drawingml/2006/main">
              <a:ext uri="{FF2B5EF4-FFF2-40B4-BE49-F238E27FC236}">
                <a16:creationId xmlns:a16="http://schemas.microsoft.com/office/drawing/2014/main" id="{037D1CC1-9E77-42EA-B4D5-2BE29179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4476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F5668-9C86-44A7-A26C-3C67CF26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86000"/>
            <a:ext cx="4057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3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E3A8A"/>
                </a:solidFill>
                <a:latin typeface="Helvetica Neue"/>
                <a:ea typeface="Helvetica Neue"/>
                <a:cs typeface="Helvetica Neue"/>
              </a:rPr>
              <a:t>SQL index card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240FD-0448-4ECE-808B-34517594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19400"/>
            <a:ext cx="40576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Stores sample ID, species, life stage, date, file path or URL, checksum, and release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7A6B1-1CEA-4B1D-B9F4-3C3B83E4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This keeps the database searchable without stuffing large image files into the database.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7C723-815F-4887-8A96-EAB0CAAC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Sources in speaker notes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26E52F74-01F9-4663-B742-A964AC2A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627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HRBMP metadata workflow | 6</a:t>
            </a:r>
          </a:p>
        </p:txBody>
      </p:sp>
    </p:spTree>
    <p:extLst>
      <p:ext uri="{BB962C8B-B14F-4D97-AF65-F5344CB8AC3E}">
        <p14:creationId xmlns:p14="http://schemas.microsoft.com/office/powerpoint/2010/main" val="10071095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AA4033-7AB6-4465-A7F1-0C1CE619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There are three image paths to explain</a:t>
            </a:r>
          </a:p>
        </p:txBody>
      </p:sp>
      <p:sp>
        <p:nvSpPr>
          <p:cNvPr id="2" name="label-panel">
            <a:extLst xmlns:a="http://schemas.openxmlformats.org/drawingml/2006/main">
              <a:ext uri="{FF2B5EF4-FFF2-40B4-BE49-F238E27FC236}">
                <a16:creationId xmlns:a16="http://schemas.microsoft.com/office/drawing/2014/main" id="{08CBD36B-9FEC-47EE-B2F9-1DA7A0A2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2F21D-1B26-4D0D-AD71-9FE960AE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Sampling Image Catalog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3F0B6-0072-486F-8DC1-77CB87BA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27241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Public browsing metadata for species, life stage, station, region, date, and image URL.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E5FE4A57-7E46-4FB8-9145-D9A98B39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276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3DF0B-E19E-4853-8EE6-481D9D72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Good for GUI catalog cards.</a:t>
            </a:r>
          </a:p>
        </p:txBody>
      </p:sp>
      <p:sp>
        <p:nvSpPr>
          <p:cNvPr id="7" name="label-panel">
            <a:extLst xmlns:a="http://schemas.openxmlformats.org/drawingml/2006/main">
              <a:ext uri="{FF2B5EF4-FFF2-40B4-BE49-F238E27FC236}">
                <a16:creationId xmlns:a16="http://schemas.microsoft.com/office/drawing/2014/main" id="{E9527301-B053-42D7-93B0-224935DB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D3071-BD59-4885-A00F-65FEF2EA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0500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FJS archive assets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8D91E-F72B-433B-AF6B-25FDC37B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38400"/>
            <a:ext cx="27241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Private or restricted archive rows tied to Supabase Storage paths and checksums.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25900D53-9E0F-45AF-8668-5CFAED97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14850"/>
            <a:ext cx="276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4D6A8-D677-45B0-B080-D0247861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8630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A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3A8A"/>
                </a:solidFill>
                <a:latin typeface="Helvetica Neue"/>
                <a:ea typeface="Helvetica Neue"/>
                <a:cs typeface="Helvetica Neue"/>
              </a:rPr>
              <a:t>Good for controlled requests.</a:t>
            </a:r>
          </a:p>
        </p:txBody>
      </p:sp>
      <p:sp>
        <p:nvSpPr>
          <p:cNvPr id="12" name="label-panel">
            <a:extLst xmlns:a="http://schemas.openxmlformats.org/drawingml/2006/main">
              <a:ext uri="{FF2B5EF4-FFF2-40B4-BE49-F238E27FC236}">
                <a16:creationId xmlns:a16="http://schemas.microsoft.com/office/drawing/2014/main" id="{19F327FF-F155-4F0B-883D-864546DC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E0C2D-1CCB-4DC7-92D2-B61A2015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0500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Reviewed Photo Gallery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39DC7-DB36-40C6-81F8-0EC379EE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38400"/>
            <a:ext cx="27241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Only public-cleared pictures and web JPEG copies in the GUI asset folder.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C094B637-0D4D-46CC-A9A8-8CAD7BA9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276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80C1A-C74A-43A9-9BD1-4DD4AE9B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86300"/>
            <a:ext cx="249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Good for public storytelling.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9D608-FFAC-4C5C-B323-BACD2AD4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150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Release status decides what people can see.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49F54-1108-4239-919E-6E5EA456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Sources in speaker notes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9D0EB59D-7BEA-4C6D-922E-AA51D284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627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HRBMP metadata workflow | 7</a:t>
            </a:r>
          </a:p>
        </p:txBody>
      </p:sp>
    </p:spTree>
    <p:extLst>
      <p:ext uri="{BB962C8B-B14F-4D97-AF65-F5344CB8AC3E}">
        <p14:creationId xmlns:p14="http://schemas.microsoft.com/office/powerpoint/2010/main" val="3661517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5EF49-7B97-446B-83E2-FECA7C1E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magic is repeatable when each item has a label</a:t>
            </a:r>
          </a:p>
        </p:txBody>
      </p:sp>
      <p:sp>
        <p:nvSpPr>
          <p:cNvPr id="2" name="panel">
            <a:extLst xmlns:a="http://schemas.openxmlformats.org/drawingml/2006/main">
              <a:ext uri="{FF2B5EF4-FFF2-40B4-BE49-F238E27FC236}">
                <a16:creationId xmlns:a16="http://schemas.microsoft.com/office/drawing/2014/main" id="{CC196BA1-E774-4DC8-B1E8-1CEDFCBE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2952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78136-407D-4290-BB38-C019BACD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859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18FCF-D401-4622-B504-E3950BB3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24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Collect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EECAB-A1FA-49BC-9491-EF44A01E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204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Gather source spreadsheets, dictionaries, images, and PDFs.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5EB7B323-3EB3-42BF-8114-04984B2E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95450"/>
            <a:ext cx="2952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5BE85-42CD-425F-99B2-F7254CA1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859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5DDA2-55E0-441D-A62C-61E3C224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24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Clean 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0DBCA-CA90-4D0C-9AA4-F9913599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14575"/>
            <a:ext cx="204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99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Make stable sample IDs, dates, species codes, and region labels.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3899CD13-DC8E-43F4-8254-B6C7D9E7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2952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66BB2-5C81-4D53-9C67-56717D47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03936-E182-4E3F-AE19-8E38B61B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24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2900A-7DE8-472B-AE2C-25D1CBB2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14575"/>
            <a:ext cx="204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Put sample, species, count, variable, and image facts into separate shelves.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2305F557-306E-4DD3-8090-DF533007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2952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D88CA-14B4-4CFA-B56C-CA397F52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CED77-C5E3-4566-9395-85C25C68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29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Import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C417E-B3BE-448D-A9FA-DFEA62C6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9575"/>
            <a:ext cx="204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Load the generated CSVs or mapped rows into SQL tables.</a:t>
            </a:r>
          </a:p>
        </p:txBody>
      </p:sp>
      <p:sp>
        <p:nvSpPr>
          <p:cNvPr id="18" name="panel">
            <a:extLst xmlns:a="http://schemas.openxmlformats.org/drawingml/2006/main">
              <a:ext uri="{FF2B5EF4-FFF2-40B4-BE49-F238E27FC236}">
                <a16:creationId xmlns:a16="http://schemas.microsoft.com/office/drawing/2014/main" id="{1B5643D9-3ADB-43C4-8293-37DFD09D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00450"/>
            <a:ext cx="2952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D2577-F859-465F-86F8-FFF9F5A1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93272F-C18E-49B5-B3B6-F2BB937F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29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Attach images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9E55F-BD98-4A89-9963-1C7A86DA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19575"/>
            <a:ext cx="204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26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Store file paths, URLs, checksums, and release status in SQL.</a:t>
            </a:r>
          </a:p>
        </p:txBody>
      </p:sp>
      <p:sp>
        <p:nvSpPr>
          <p:cNvPr id="22" name="panel">
            <a:extLst xmlns:a="http://schemas.openxmlformats.org/drawingml/2006/main">
              <a:ext uri="{FF2B5EF4-FFF2-40B4-BE49-F238E27FC236}">
                <a16:creationId xmlns:a16="http://schemas.microsoft.com/office/drawing/2014/main" id="{8DCD429A-70EA-4DFE-AE82-91F8C6A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00450"/>
            <a:ext cx="2952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CD4150-F38D-4583-8A81-FB31A381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90950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73526C-06BA-4D7F-AF30-EC898B77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290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QA and publish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176C6C-5A96-47C5-8997-53679345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19575"/>
            <a:ext cx="204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Check counts, links, access levels, and metadata pages before release.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BFEF80-75BF-4DD2-B974-AF442BFD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Plain-English close: SQL metadata is a carefully organized index for the real data and files.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24B937-D85A-485C-8347-77ACEC25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Sources in speaker notes</a:t>
            </a:r>
          </a:p>
        </p:txBody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B02688CD-F1DB-4A02-83A1-E30FED25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627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HRBMP metadata workflow | 8</a:t>
            </a:r>
          </a:p>
        </p:txBody>
      </p:sp>
    </p:spTree>
    <p:extLst>
      <p:ext uri="{BB962C8B-B14F-4D97-AF65-F5344CB8AC3E}">
        <p14:creationId xmlns:p14="http://schemas.microsoft.com/office/powerpoint/2010/main" val="792392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2026-08-11T17:03:06.2880000Z</dcterms:created>
  <dcterms:modified xsi:type="dcterms:W3CDTF">2026-08-11T17:03:06.2880000Z</dcterms:modified>
</coreProperties>
</file>